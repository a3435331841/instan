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b7c9c37efd4be2" /><Relationship Type="http://schemas.openxmlformats.org/officeDocument/2006/relationships/extended-properties" Target="/docProps/app.xml" Id="R3f5c3a2af348458e" /><Relationship Type="http://schemas.openxmlformats.org/officeDocument/2006/relationships/officeDocument" Target="/ppt/presentation.xml" Id="Rc43b6f3e973c4d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959f676cad40a5"/>
  </p:sldMasterIdLst>
  <p:notesMasterIdLst>
    <p:notesMasterId xmlns:r="http://schemas.openxmlformats.org/officeDocument/2006/relationships" r:id="Rffbd23ea399d4728"/>
  </p:notesMasterIdLst>
  <p:sldIdLst>
    <p:sldId xmlns:r="http://schemas.openxmlformats.org/officeDocument/2006/relationships" id="256" r:id="R61caecc40ca34ab5"/>
    <p:sldId xmlns:r="http://schemas.openxmlformats.org/officeDocument/2006/relationships" id="257" r:id="Rf33f98656b044db4"/>
    <p:sldId xmlns:r="http://schemas.openxmlformats.org/officeDocument/2006/relationships" id="258" r:id="R5bb7912302094c9a"/>
    <p:sldId xmlns:r="http://schemas.openxmlformats.org/officeDocument/2006/relationships" id="259" r:id="Rbb2c31788ae145c1"/>
    <p:sldId xmlns:r="http://schemas.openxmlformats.org/officeDocument/2006/relationships" id="260" r:id="R171f1173e5cc4cf7"/>
    <p:sldId xmlns:r="http://schemas.openxmlformats.org/officeDocument/2006/relationships" id="261" r:id="R9a7769b8974442c9"/>
    <p:sldId xmlns:r="http://schemas.openxmlformats.org/officeDocument/2006/relationships" id="262" r:id="R8ccf119aa77e471b"/>
    <p:sldId xmlns:r="http://schemas.openxmlformats.org/officeDocument/2006/relationships" id="263" r:id="R3d3c633fd73546fc"/>
    <p:sldId xmlns:r="http://schemas.openxmlformats.org/officeDocument/2006/relationships" id="264" r:id="Rc661b523a1f24a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025af8267d4f40" /><Relationship Type="http://schemas.openxmlformats.org/officeDocument/2006/relationships/slideMaster" Target="/ppt/slideMasters/slideMaster1.xml" Id="R16959f676cad40a5" /><Relationship Type="http://schemas.openxmlformats.org/officeDocument/2006/relationships/notesMaster" Target="/ppt/notesMasters/notesMaster1.xml" Id="Rffbd23ea399d4728" /><Relationship Type="http://schemas.openxmlformats.org/officeDocument/2006/relationships/presProps" Target="/ppt/presProps.xml" Id="Rbac0d5daaa3c4a2e" /><Relationship Type="http://schemas.openxmlformats.org/officeDocument/2006/relationships/tableStyles" Target="/ppt/tableStyles.xml" Id="R3e736b4e009d46e4" /><Relationship Type="http://schemas.openxmlformats.org/officeDocument/2006/relationships/slide" Target="/ppt/slides/slide1.xml" Id="R61caecc40ca34ab5" /><Relationship Type="http://schemas.openxmlformats.org/officeDocument/2006/relationships/slide" Target="/ppt/slides/slide2.xml" Id="Rf33f98656b044db4" /><Relationship Type="http://schemas.openxmlformats.org/officeDocument/2006/relationships/slide" Target="/ppt/slides/slide3.xml" Id="R5bb7912302094c9a" /><Relationship Type="http://schemas.openxmlformats.org/officeDocument/2006/relationships/slide" Target="/ppt/slides/slide4.xml" Id="Rbb2c31788ae145c1" /><Relationship Type="http://schemas.openxmlformats.org/officeDocument/2006/relationships/slide" Target="/ppt/slides/slide5.xml" Id="R171f1173e5cc4cf7" /><Relationship Type="http://schemas.openxmlformats.org/officeDocument/2006/relationships/slide" Target="/ppt/slides/slide6.xml" Id="R9a7769b8974442c9" /><Relationship Type="http://schemas.openxmlformats.org/officeDocument/2006/relationships/slide" Target="/ppt/slides/slide7.xml" Id="R8ccf119aa77e471b" /><Relationship Type="http://schemas.openxmlformats.org/officeDocument/2006/relationships/slide" Target="/ppt/slides/slide8.xml" Id="R3d3c633fd73546fc" /><Relationship Type="http://schemas.openxmlformats.org/officeDocument/2006/relationships/slide" Target="/ppt/slides/slide9.xml" Id="Rc661b523a1f24a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7f1268ddf142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4b52f8d8564a8d" /><Relationship Type="http://schemas.openxmlformats.org/officeDocument/2006/relationships/notesMaster" Target="/ppt/notesMasters/notesMaster1.xml" Id="R010723e427a646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125cc6efa4f64" /><Relationship Type="http://schemas.openxmlformats.org/officeDocument/2006/relationships/notesMaster" Target="/ppt/notesMasters/notesMaster1.xml" Id="R02e05a0c02b64a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1e5b5ef1c24e59" /><Relationship Type="http://schemas.openxmlformats.org/officeDocument/2006/relationships/notesMaster" Target="/ppt/notesMasters/notesMaster1.xml" Id="R7f4cec01b0b143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2ccc7cd3204691" /><Relationship Type="http://schemas.openxmlformats.org/officeDocument/2006/relationships/notesMaster" Target="/ppt/notesMasters/notesMaster1.xml" Id="R2c2e29d7f35540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1a79fa5f7c4062" /><Relationship Type="http://schemas.openxmlformats.org/officeDocument/2006/relationships/notesMaster" Target="/ppt/notesMasters/notesMaster1.xml" Id="Rfb174c32bf3d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8ec630efce47e8" /><Relationship Type="http://schemas.openxmlformats.org/officeDocument/2006/relationships/notesMaster" Target="/ppt/notesMasters/notesMaster1.xml" Id="R189a610d2f0947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24fc507d764c2a" /><Relationship Type="http://schemas.openxmlformats.org/officeDocument/2006/relationships/notesMaster" Target="/ppt/notesMasters/notesMaster1.xml" Id="R369fc2c2a26340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7f0886c25442ad" /><Relationship Type="http://schemas.openxmlformats.org/officeDocument/2006/relationships/notesMaster" Target="/ppt/notesMasters/notesMaster1.xml" Id="R987b298d0c5d4b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9b8aabe97244cf" /><Relationship Type="http://schemas.openxmlformats.org/officeDocument/2006/relationships/notesMaster" Target="/ppt/notesMasters/notesMaster1.xml" Id="R568a5d1df39141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本页为交接汇报封面，无外部素材。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D:/instan/pano360/runs/grt360_20260809/ablation_erpwrap_120seq/bakeoff.json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D:/instan/pano360/scripts/score_external_results.py</a:t>
            </a:r>
          </a:p>
          <a:p xmlns:a="http://schemas.openxmlformats.org/drawingml/2006/main">
            <a:r>
              <a:t>- D:/instan/pano360/reports/STAGE_RESULTS_2026-08-09.md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D:/instan/pano360/runs/grt360_20260809/bakeoff_3seq/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D:/instan/pano360/runs/grt360_20260809/ablation_erpwrap_120seq/bakeoff.json</a:t>
            </a:r>
          </a:p>
          <a:p xmlns:a="http://schemas.openxmlformats.org/drawingml/2006/main">
            <a:r>
              <a:t>- D:/instan/pano360/reports/STAGE_RESULTS_2026-08-09.md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D:/instan/pano360/runs/grt360_20260809/ablation_erpwrap_120seq/bakeoff.json</a:t>
            </a:r>
          </a:p>
          <a:p xmlns:a="http://schemas.openxmlformats.org/drawingml/2006/main">
            <a:r>
              <a:t>- D:/instan/pano360/integrations/uetrack/erp_wrap.py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D:/instan/pano360/integrations/uetrack/README.md</a:t>
            </a:r>
          </a:p>
          <a:p xmlns:a="http://schemas.openxmlformats.org/drawingml/2006/main">
            <a:r>
              <a:t>- D:/instan/pano360/scripts/run_uetrack_paired_queue.sh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D:/instan/deliverables/GRT360_2026-08-09/docker/grt360-uetrack_2026-08-09_linux-amd64.tar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D:/instan/pano360/reports/STAGE_RESULTS_2026-08-09.md</a:t>
            </a:r>
          </a:p>
          <a:p xmlns:a="http://schemas.openxmlformats.org/drawingml/2006/main">
            <a:r>
              <a:t>- 服务器后台队列日志：/data/projects/instan/runs/grt360_20260809/uetrack_logs/fullqueue_gpu0.log 和 fullqueue_gpu1.log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fa85ecee4240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7c8b4949914698" /><Relationship Type="http://schemas.openxmlformats.org/officeDocument/2006/relationships/slideLayout" Target="/ppt/slideLayouts/slideLayout1.xml" Id="Re39680a848d242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9680a848d242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2ee8efc68416e" /><Relationship Type="http://schemas.openxmlformats.org/officeDocument/2006/relationships/notesSlide" Target="/ppt/notesSlides/notesSlide1.xml" Id="R05a94eb155b144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4a11258894c14" /><Relationship Type="http://schemas.openxmlformats.org/officeDocument/2006/relationships/notesSlide" Target="/ppt/notesSlides/notesSlide2.xml" Id="Ref72ff461a5f4f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e58af54e849b0" /><Relationship Type="http://schemas.openxmlformats.org/officeDocument/2006/relationships/notesSlide" Target="/ppt/notesSlides/notesSlide3.xml" Id="R9caa517e6fae45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dd6cb2b82489d" /><Relationship Type="http://schemas.openxmlformats.org/officeDocument/2006/relationships/chart" Target="/ppt/slides/charts/chart1.xml" Id="Re6eb87921d344d20" /><Relationship Type="http://schemas.openxmlformats.org/officeDocument/2006/relationships/notesSlide" Target="/ppt/notesSlides/notesSlide4.xml" Id="Rb56a54ab361245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143b42dae479e" /><Relationship Type="http://schemas.openxmlformats.org/officeDocument/2006/relationships/chart" Target="/ppt/slides/charts/chart2.xml" Id="R71f51f5393ac4534" /><Relationship Type="http://schemas.openxmlformats.org/officeDocument/2006/relationships/notesSlide" Target="/ppt/notesSlides/notesSlide5.xml" Id="Rf762086db6bb4d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f153ed7af4e05" /><Relationship Type="http://schemas.openxmlformats.org/officeDocument/2006/relationships/notesSlide" Target="/ppt/notesSlides/notesSlide6.xml" Id="Rce351ab590de43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7ab803ee744f7" /><Relationship Type="http://schemas.openxmlformats.org/officeDocument/2006/relationships/notesSlide" Target="/ppt/notesSlides/notesSlide7.xml" Id="R5820260e405e4a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ce4a3f0554607" /><Relationship Type="http://schemas.openxmlformats.org/officeDocument/2006/relationships/notesSlide" Target="/ppt/notesSlides/notesSlide8.xml" Id="Rc35774e4b67e49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d01ed33df4693" /><Relationship Type="http://schemas.openxmlformats.org/officeDocument/2006/relationships/notesSlide" Target="/ppt/notesSlides/notesSlide9.xml" Id="Rac455e23f9e7417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UETrack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0.5247</c:v>
              </c:pt>
              <c:pt idx="1">
                <c:v>0.5953</c:v>
              </c:pt>
            </c:numLit>
          </c:val>
        </c:ser>
        <c:ser>
          <c:idx val="1"/>
          <c:order val="1"/>
          <c:tx>
            <c:v>LightFC ONNX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0.3364</c:v>
              </c:pt>
              <c:pt idx="1">
                <c:v>0.3687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B0D1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647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470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B647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ERP wrap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0.5143</c:v>
              </c:pt>
              <c:pt idx="1">
                <c:v>0.5776</c:v>
              </c:pt>
            </c:numLit>
          </c:val>
        </c:ser>
        <c:ser>
          <c:idx val="1"/>
          <c:order val="1"/>
          <c:tx>
            <c:v>Base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2"/>
              <c:pt idx="0">
                <c:v>AUC</c:v>
              </c:pt>
              <c:pt idx="1">
                <c:v>SR@0.5</c:v>
              </c:pt>
            </c:strLit>
          </c:cat>
          <c:val>
            <c:numLit>
              <c:formatCode>0.0</c:formatCode>
              <c:ptCount val="2"/>
              <c:pt idx="0">
                <c:v>0.4168</c:v>
              </c:pt>
              <c:pt idx="1">
                <c:v>0.4525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B0D1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647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B6470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B647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32FE3-1A99-48D5-9033-C0E169D2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43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B7DB32-8D7B-4A5F-8A76-BB8046E9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191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GRT-360 · RESEARCH HANDOFF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EE5D6-A630-4159-959B-870B7FEE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62100"/>
            <a:ext cx="866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B0D10"/>
                </a:solidFill>
              </a:defRPr>
            </a:pPr>
            <a:r>
              <a:rPr sz="4050" b="1">
                <a:solidFill>
                  <a:srgbClr val="0B0D10"/>
                </a:solidFill>
              </a:rPr>
              <a:t>服务器接管与阶段成果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B2D8B-C53A-4353-972B-2EBFD26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B6470"/>
                </a:solidFill>
              </a:defRPr>
            </a:pPr>
            <a:r>
              <a:rPr sz="1800">
                <a:solidFill>
                  <a:srgbClr val="5B6470"/>
                </a:solidFill>
              </a:rPr>
              <a:t>从可复现实验协议，到可断网运行的 UETrack 交付物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7D3B03-3729-44A9-98D4-FA602515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更新时间 2026-08-09 · 阶段结果持续回传中</a:t>
            </a:r>
          </a:p>
        </p:txBody>
      </p:sp>
    </p:spTree>
    <p:extLst>
      <p:ext uri="{BB962C8B-B14F-4D97-AF65-F5344CB8AC3E}">
        <p14:creationId xmlns:p14="http://schemas.microsoft.com/office/powerpoint/2010/main" val="14093934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C6BF8-64DF-41EE-9467-E60C430B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82BB7-57A6-4DD0-AE34-7D107F73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先回答：当前能交付什么？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F1D6D-D0FD-44E1-AB3F-137AC0D2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579B5-C7BF-4C2E-B6C1-51F7155E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628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rPr sz="1950" b="1">
                <a:solidFill>
                  <a:srgbClr val="0B0D10"/>
                </a:solidFill>
              </a:rPr>
              <a:t>主干模型已经选定，工程闭环已经打通；120 条全量分数已由服务器严格 scorer 冻结。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44922-27DE-47D1-9936-2DB78EAC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0.5143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85472-FCF6-4D6F-A8FC-776EFDE3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431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B6470"/>
                </a:solidFill>
              </a:defRPr>
            </a:pPr>
            <a:r>
              <a:rPr sz="1275">
                <a:solidFill>
                  <a:srgbClr val="5B6470"/>
                </a:solidFill>
              </a:rPr>
              <a:t>120 条序列 ERP-wrap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B3DED-C540-40F1-8423-18C6EE3F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0.5776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BA8B2-52AB-4A02-8EDF-61A315D9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B6470"/>
                </a:solidFill>
              </a:defRPr>
            </a:pPr>
            <a:r>
              <a:rPr sz="1275">
                <a:solidFill>
                  <a:srgbClr val="5B6470"/>
                </a:solidFill>
              </a:rPr>
              <a:t>120 条序列 ERP-wrap SR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AEF31-AA48-4D37-8895-23094863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F9D3A-D1A4-4C75-BE63-D997CA1A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7D64"/>
                </a:solidFill>
              </a:defRPr>
            </a:pPr>
            <a:r>
              <a:rPr sz="1650" b="1">
                <a:solidFill>
                  <a:srgbClr val="147D64"/>
                </a:solidFill>
              </a:rPr>
              <a:t>已完成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7CC6D8-2432-42B5-90A1-3E1AF07D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严格 scorer、UETrack 选型、ERP 环形采样增强、GPU 冒烟、断网镜像、GitHub 草稿 PR。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1D9141-04C2-4294-84B8-7BCEC5EB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7D64"/>
                </a:solidFill>
              </a:defRPr>
            </a:pPr>
            <a:r>
              <a:rPr sz="1650" b="1">
                <a:solidFill>
                  <a:srgbClr val="147D64"/>
                </a:solidFill>
              </a:rPr>
              <a:t>已冻结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F77F6-365D-4850-9828-311DAD04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671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120 条基线与 ERP-wrap 结果已完成严格对齐、汇总和归档；原始 CSV 与 tar 归档均已保存。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E3B6C-1674-43F7-86F0-CBFF74B9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24747"/>
                </a:solidFill>
              </a:defRPr>
            </a:pPr>
            <a:r>
              <a:rPr sz="1650" b="1">
                <a:solidFill>
                  <a:srgbClr val="C24747"/>
                </a:solidFill>
              </a:rPr>
              <a:t>明确边界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7C496-2FE9-40CD-B36C-C5464502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0B0D10"/>
                </a:solidFill>
              </a:defRPr>
            </a:pPr>
            <a:r>
              <a:rPr sz="1425">
                <a:solidFill>
                  <a:srgbClr val="0B0D10"/>
                </a:solidFill>
              </a:rPr>
              <a:t>LoRAT / ODTrack 没有可验证的固定 checkpoint，因此没有编造分数；当前结论基于 LightFC 与 UETrack。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68C9D-2C74-48CD-9BB9-28B0D4A1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0CA28-1B2E-464E-971B-938E4475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A0FAF-2BF5-4558-B9EC-78DAF3EA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370512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B1BA7-9DD7-4980-BB6D-1754083D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评测契约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152A0-A0D0-4F0F-B933-8F4D37E4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先固定协议，结果才可比较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03249-3A91-4D25-BAF7-AC5AFE86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所有外部结果进入同一个 OPE scorer；初始化帧只用于对齐，不参与精度汇总。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6690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8572500"/>
              </a:tblGrid>
              <a:tr h="571500">
                <a:tc>
                  <a:txBody>
                    <a:bodyPr/>
                    <a:lstStyle/>
                    <a:p>
                      <a:r>
                        <a:t>项目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统一约定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框格式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x, y, w, h；预测与 GT 逐帧严格对齐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精度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ordinary IoU + ERP dual IoU（−W / 0 / +W）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汇总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21 点 AUC、SR@0.5；按序列等权 macro average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计时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读取 tracker 原生 timing；不与精度混合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检查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B0D10"/>
                          </a:solidFill>
                        </a:rPr>
                        <a:t>首帧、行数、有限值、宽度归一化全部强校验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AE371-5276-4B85-82E9-258482C4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这一步把“跑出来了”变成“能复核、能比较、能追责”。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13902-5FE5-4F93-B523-EEB3F171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E744A-E31E-4316-8FED-93232DFD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C3ADA-E9D3-43F4-B05B-7A13984F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10964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31DE5-0009-4E47-B0B3-FC8468DC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统一 BAKE-OFF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CE197-CCBF-4701-8237-5746E871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3 条序列筛选已足够改变主线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5936B4-6B19-45F2-BB27-776FB967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UETrack 在同一协议下同时赢得精度和速度，因此成为后续几何增强的实验底座。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742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eb87921d344d2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3344C-46BE-4981-A575-472EEE85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62150"/>
            <a:ext cx="26479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4B8D4B-D00E-4939-8A51-5601E480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10"/>
                </a:solidFill>
              </a:defRPr>
            </a:pPr>
            <a:r>
              <a:rPr sz="1800" b="1">
                <a:solidFill>
                  <a:srgbClr val="0B0D10"/>
                </a:solidFill>
              </a:rPr>
              <a:t>选择 UETrack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176E4-A00F-473F-B255-34E393B9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AUC +0.1883</a:t>
            </a:r>
          </a:p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SR +0.2266</a:t>
            </a:r>
          </a:p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FPS 61.40 vs 6.78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A7400-589A-4A76-96F2-69AF5415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2647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这是选型，不是最终 120 条排行榜。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6B5DD-6CDD-4571-98DE-90EE153C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1E9F85-AF60-4C70-BE8B-91BA0E6C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EC872-92A3-4492-86D8-3DFE3484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67710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1E567D-0A45-4530-86C8-38CD987B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主结果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2B09A-C4AD-41FB-B345-A249C4C3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ERP 环形采样在 120 条序列上形成稳定增益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87C5B-481B-47EE-9B68-32FEF31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水平边界改为循环采样，垂直方向仍保持常规 padding；跨 seam 的框宽度被保留。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742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f51f5393ac453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02446-8839-454B-9CCF-0A149513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62150"/>
            <a:ext cx="26479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31121-59D0-452A-8F07-12A17E9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</a:defRPr>
            </a:pPr>
            <a:r>
              <a:rPr sz="2850" b="1">
                <a:solidFill>
                  <a:srgbClr val="3D8DFF"/>
                </a:solidFill>
              </a:rPr>
              <a:t>+0.0975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BD2FA-F1EF-4278-9166-7043EE30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AUC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F306A-7133-48C1-891D-E298F017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289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</a:defRPr>
            </a:pPr>
            <a:r>
              <a:rPr sz="2850" b="1">
                <a:solidFill>
                  <a:srgbClr val="3D8DFF"/>
                </a:solidFill>
              </a:rPr>
              <a:t>+0.1251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AEA3F-4B1A-4C78-AA3E-5D13700A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861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B6470"/>
                </a:solidFill>
              </a:defRPr>
            </a:pPr>
            <a:r>
              <a:rPr sz="1350">
                <a:solidFill>
                  <a:srgbClr val="5B6470"/>
                </a:solidFill>
              </a:rPr>
              <a:t>SR@0.5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9AB2A-C4C1-41A6-A006-E8F5886C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7195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0D10"/>
                </a:solidFill>
              </a:defRPr>
            </a:pPr>
            <a:r>
              <a:rPr sz="1350" b="1">
                <a:solidFill>
                  <a:srgbClr val="0B0D10"/>
                </a:solidFill>
              </a:rPr>
              <a:t>120 条序列 macro average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7B2EC2-7A41-438C-8C86-248B4208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83FE5-018D-463A-A584-F3E6413B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95E2B-D6AA-428D-9451-3AC4B99B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39978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E84E0-D8A7-431D-9BF4-D61FDECF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逐序列证据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A4065-4B3C-48F2-9D1C-7F467F45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增益集中在 seam 场景，但并非每条序列都变好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301C2-5B73-4524-AA57-9A1B40E7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保留回归样本，避免把 macro average 讲成普遍提升。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47850"/>
          <a:ext xmlns:a="http://schemas.openxmlformats.org/drawingml/2006/main" cx="10972800" cy="3219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238250"/>
                <a:gridCol w="1428750"/>
                <a:gridCol w="1428750"/>
                <a:gridCol w="1428750"/>
                <a:gridCol w="5715000"/>
              </a:tblGrid>
              <a:tr h="459921">
                <a:tc>
                  <a:txBody>
                    <a:bodyPr/>
                    <a:lstStyle/>
                    <a:p>
                      <a:r>
                        <a:t>序列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Base AUC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ERP AUC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变化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解读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0.5470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0.8806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+0.3336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明显 seam 增益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0003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0.2551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0.6413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+0.3862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明显 seam 增益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0014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0.2616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0.7284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+0.4668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大幅恢复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0018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0.4995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0.8145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+0.3150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大幅恢复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0.1245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0.3078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+0.1833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改善</a:t>
                      </a:r>
                    </a:p>
                  </a:txBody>
                  <a:tcPr marL="91440" marR="91440" marT="45720" marB="45720"/>
                </a:tc>
              </a:tr>
              <a:tr h="459921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0029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0.2736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0.2558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−0.0178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0B0D10"/>
                          </a:solidFill>
                        </a:rPr>
                        <a:t>保留回归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80ACA-3AA6-4CDE-B4C1-98DE564E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下一步不是隐藏回归，而是用全量结果定位何时启用 seam-aware 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FFFAE-3E97-4DF7-836F-78077BCF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BF4A4-A2EB-45EA-A86C-165551F5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83AB0-43DD-46F6-B8CE-2C714E4E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178559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D13E80-A0E8-42A8-95E1-9DB9EDCB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工程闭环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1B787-ACC5-414C-961D-D84D06ED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研究结果已经落成可复现工程链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30C2E-6D1F-4D11-8AED-D2BEDFDF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B6470"/>
                </a:solidFill>
              </a:defRPr>
            </a:pPr>
            <a:r>
              <a:rPr sz="1500">
                <a:solidFill>
                  <a:srgbClr val="5B6470"/>
                </a:solidFill>
              </a:rPr>
              <a:t>每个环节都有可检查的锚点，服务器和本地交付不依赖口头说明。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1630B-80C6-48B7-8F9D-A80D874C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E0435-AF67-4C28-8A18-A148676A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C73CBB-3414-4B1B-8FD0-14526750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461C4-D773-4012-8941-304B8DF5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A54CA-C1BC-46BF-9118-EB3FAFE2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75811-6C99-4D61-B4CC-588AB941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固定锚点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1D69D-77E8-4F08-88FC-5EEFA04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upstream commit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checkpoint SHA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950D1-3798-4FB5-AD56-99DA0645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01085-88E2-4FB7-AF1D-8748C68C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673F1-6485-4436-8F1B-78039BEC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统一 scorer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E8117-7D20-4048-B9CF-E360E58E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严格行数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ordinary + dual IoU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C3F92-FFF4-4779-BC0A-100A9A14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5AA93F-62A2-4AB0-97FE-42E25317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7A7D1-2AB2-4973-B323-92ECB714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服务器评测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FF5B0-13E9-47CB-A46C-952410B2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双 3090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可恢复队列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11727B-10F1-4714-8881-AB05FF91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146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8C4A1C-07CE-471A-88BF-BD8533B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670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5E2FC0-F565-4DA2-8EEF-D30FD3C9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718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离线镜像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DA8AD5-610C-4E75-844C-477DB249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14700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CUDA 12.1</a:t>
            </a:r>
          </a:p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file protocol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84744-0043-432D-A85B-B896A08B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D10"/>
                </a:solidFill>
              </a:defRPr>
            </a:pPr>
            <a:r>
              <a:rPr sz="1875" b="1">
                <a:solidFill>
                  <a:srgbClr val="0B0D10"/>
                </a:solidFill>
              </a:rPr>
              <a:t>可复现 ≠ 只有代码：还要有权重、数据、协议、运行环境和校验值。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6673D-E698-4879-9FEF-05E15420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B37D6D-F74E-44F7-8CBB-B0537571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1C666E-AA52-4ECB-A8A5-1F52FAE6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19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8908D-A51B-43E9-BBBB-2857AE92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交付地图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B0C8BD-6764-4B77-ADD6-442F0292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D10"/>
                </a:solidFill>
              </a:defRPr>
            </a:pPr>
            <a:r>
              <a:rPr sz="2850" b="1">
                <a:solidFill>
                  <a:srgbClr val="0B0D10"/>
                </a:solidFill>
              </a:rPr>
              <a:t>交付物已分成三处，路径清晰可查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A6CFD-9952-4249-AA99-4714C4E6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05652-4338-412F-BAE3-B487D661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本地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7818D-FEB4-4940-979F-FD1C0DBD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3815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代码与报告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D:/instan/pano360/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阶段原始结果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D:/instan/pano360/runs/grt360_20260809/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离线镜像 tar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D:/instan/deliverables/GRT360_2026-08-09/docker/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9E2E1-460B-48D8-B6F0-9018BAE5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621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16DE0-385B-41AA-BC14-6824F4C6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服务器 /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5DA21-39B1-4BB7-AFCD-D5E7BF9F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05050"/>
            <a:ext cx="43815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服务器代码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/data/projects/instan_grt360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服务器原始结果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/data/projects/instan/runs/grt360_20260809/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GitHub 草稿 PR</a:t>
            </a:r>
          </a:p>
          <a:p xmlns:a="http://schemas.openxmlformats.org/drawingml/2006/main">
            <a:pPr algn="l">
              <a:defRPr sz="1275">
                <a:solidFill>
                  <a:srgbClr val="0B0D10"/>
                </a:solidFill>
              </a:defRPr>
            </a:pPr>
            <a:r>
              <a:rPr sz="1275">
                <a:solidFill>
                  <a:srgbClr val="0B0D10"/>
                </a:solidFill>
              </a:rPr>
              <a:t>https://github.com/A3435331841/instan/pull/1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69972-BA0A-48C6-BD80-2B2A2707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rPr sz="1575" b="1">
                <a:solidFill>
                  <a:srgbClr val="0B0D10"/>
                </a:solidFill>
              </a:rPr>
              <a:t>镜像包约 5.99 GB；仓库不包含数据、权重和 token。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C5826-90B5-46D9-BB65-0FD6965F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EF1D4-3B91-477B-9A29-58E111F0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GRT-360 · 2026-08-09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77EE2-B343-4D42-8830-00EE0672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B6470"/>
                </a:solidFill>
              </a:defRPr>
            </a:pPr>
            <a:r>
              <a:rPr sz="900">
                <a:solidFill>
                  <a:srgbClr val="5B647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634966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DCAB8-7CBD-40F0-B120-73E6951C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143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1C4DA-8F61-48B1-A339-8392D841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9715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现在的正确动作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AB63E-FFA0-436D-99B1-1D960D97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19250"/>
            <a:ext cx="923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0D10"/>
                </a:solidFill>
              </a:defRPr>
            </a:pPr>
            <a:r>
              <a:rPr sz="3150" b="1">
                <a:solidFill>
                  <a:srgbClr val="0B0D10"/>
                </a:solidFill>
              </a:rPr>
              <a:t>120 条全量结论已经冻结，交付物全部归档。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D69A5-88EF-49B6-9606-44DB8F23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5B6470"/>
                </a:solidFill>
              </a:defRPr>
            </a:pPr>
            <a:r>
              <a:rPr sz="1725">
                <a:solidFill>
                  <a:srgbClr val="5B6470"/>
                </a:solidFill>
              </a:rPr>
              <a:t>当前已具备：可比较的协议、已验证的主干、可解释的几何增强、断网镜像、原始结果和最终 scorer。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413FF-0C0F-4624-83C4-6450F6BB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3350"/>
            <a:ext cx="838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85E80-13E9-4037-8834-A62E2F7E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阶段状态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34552-A203-49CC-B686-06C35ADE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0535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B0D10"/>
                </a:solidFill>
              </a:defRPr>
            </a:pPr>
            <a:r>
              <a:rPr sz="1500">
                <a:solidFill>
                  <a:srgbClr val="0B0D10"/>
                </a:solidFill>
              </a:rPr>
              <a:t>120 条已汇总 · 基线与 ERP-wrap 各 120 条 · 严格 scorer 已完成 · JSON/CSV/tar 已归档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1A165-746E-4657-B84C-A37649D8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912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B6470"/>
                </a:solidFill>
              </a:defRPr>
            </a:pPr>
            <a:r>
              <a:rPr sz="1200">
                <a:solidFill>
                  <a:srgbClr val="5B6470"/>
                </a:solidFill>
              </a:rPr>
              <a:t>交付完成：最终报告、PPT、原始结果归档与 GitHub PR 已同步。</a:t>
            </a:r>
          </a:p>
        </p:txBody>
      </p:sp>
    </p:spTree>
    <p:extLst>
      <p:ext uri="{BB962C8B-B14F-4D97-AF65-F5344CB8AC3E}">
        <p14:creationId xmlns:p14="http://schemas.microsoft.com/office/powerpoint/2010/main" val="8999894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2026-08-09T09:34:55.8010000Z</dcterms:created>
  <dcterms:modified xsi:type="dcterms:W3CDTF">2026-08-09T09:34:55.8010000Z</dcterms:modified>
</coreProperties>
</file>