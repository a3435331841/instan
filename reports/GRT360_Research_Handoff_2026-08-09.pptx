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71e0141cbb488b" /><Relationship Type="http://schemas.openxmlformats.org/officeDocument/2006/relationships/extended-properties" Target="/docProps/app.xml" Id="R00b763ec1a474e6e" /><Relationship Type="http://schemas.openxmlformats.org/officeDocument/2006/relationships/officeDocument" Target="/ppt/presentation.xml" Id="R9cb9969a4ad3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c752bd79f7458c"/>
  </p:sldMasterIdLst>
  <p:notesMasterIdLst>
    <p:notesMasterId xmlns:r="http://schemas.openxmlformats.org/officeDocument/2006/relationships" r:id="Rf2d74faa61b54ed1"/>
  </p:notesMasterIdLst>
  <p:sldIdLst>
    <p:sldId xmlns:r="http://schemas.openxmlformats.org/officeDocument/2006/relationships" id="256" r:id="R8ed0a508b63e4cee"/>
    <p:sldId xmlns:r="http://schemas.openxmlformats.org/officeDocument/2006/relationships" id="257" r:id="R1d3f9829bee04170"/>
    <p:sldId xmlns:r="http://schemas.openxmlformats.org/officeDocument/2006/relationships" id="258" r:id="R99126ce6193e466f"/>
    <p:sldId xmlns:r="http://schemas.openxmlformats.org/officeDocument/2006/relationships" id="259" r:id="Rbabfcce255a24317"/>
    <p:sldId xmlns:r="http://schemas.openxmlformats.org/officeDocument/2006/relationships" id="260" r:id="R3b8e2c525c1241b5"/>
    <p:sldId xmlns:r="http://schemas.openxmlformats.org/officeDocument/2006/relationships" id="261" r:id="Rf3a9788fcf3a44ff"/>
    <p:sldId xmlns:r="http://schemas.openxmlformats.org/officeDocument/2006/relationships" id="262" r:id="R6f4c045b87e74a42"/>
    <p:sldId xmlns:r="http://schemas.openxmlformats.org/officeDocument/2006/relationships" id="263" r:id="R61bf45501a114c52"/>
    <p:sldId xmlns:r="http://schemas.openxmlformats.org/officeDocument/2006/relationships" id="264" r:id="R9252584f0203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f5ea4441214ef6" /><Relationship Type="http://schemas.openxmlformats.org/officeDocument/2006/relationships/slideMaster" Target="/ppt/slideMasters/slideMaster1.xml" Id="Re0c752bd79f7458c" /><Relationship Type="http://schemas.openxmlformats.org/officeDocument/2006/relationships/notesMaster" Target="/ppt/notesMasters/notesMaster1.xml" Id="Rf2d74faa61b54ed1" /><Relationship Type="http://schemas.openxmlformats.org/officeDocument/2006/relationships/presProps" Target="/ppt/presProps.xml" Id="R61be8e103ae84d56" /><Relationship Type="http://schemas.openxmlformats.org/officeDocument/2006/relationships/tableStyles" Target="/ppt/tableStyles.xml" Id="Rc3ef02eeabc74e27" /><Relationship Type="http://schemas.openxmlformats.org/officeDocument/2006/relationships/slide" Target="/ppt/slides/slide1.xml" Id="R8ed0a508b63e4cee" /><Relationship Type="http://schemas.openxmlformats.org/officeDocument/2006/relationships/slide" Target="/ppt/slides/slide2.xml" Id="R1d3f9829bee04170" /><Relationship Type="http://schemas.openxmlformats.org/officeDocument/2006/relationships/slide" Target="/ppt/slides/slide3.xml" Id="R99126ce6193e466f" /><Relationship Type="http://schemas.openxmlformats.org/officeDocument/2006/relationships/slide" Target="/ppt/slides/slide4.xml" Id="Rbabfcce255a24317" /><Relationship Type="http://schemas.openxmlformats.org/officeDocument/2006/relationships/slide" Target="/ppt/slides/slide5.xml" Id="R3b8e2c525c1241b5" /><Relationship Type="http://schemas.openxmlformats.org/officeDocument/2006/relationships/slide" Target="/ppt/slides/slide6.xml" Id="Rf3a9788fcf3a44ff" /><Relationship Type="http://schemas.openxmlformats.org/officeDocument/2006/relationships/slide" Target="/ppt/slides/slide7.xml" Id="R6f4c045b87e74a42" /><Relationship Type="http://schemas.openxmlformats.org/officeDocument/2006/relationships/slide" Target="/ppt/slides/slide8.xml" Id="R61bf45501a114c52" /><Relationship Type="http://schemas.openxmlformats.org/officeDocument/2006/relationships/slide" Target="/ppt/slides/slide9.xml" Id="R9252584f020340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86e0d4d690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77299f1a0844a7" /><Relationship Type="http://schemas.openxmlformats.org/officeDocument/2006/relationships/notesMaster" Target="/ppt/notesMasters/notesMaster1.xml" Id="Ra536c48508d847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cdd885f1a428e" /><Relationship Type="http://schemas.openxmlformats.org/officeDocument/2006/relationships/notesMaster" Target="/ppt/notesMasters/notesMaster1.xml" Id="Radeccbee2156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f75f815a2a43f9" /><Relationship Type="http://schemas.openxmlformats.org/officeDocument/2006/relationships/notesMaster" Target="/ppt/notesMasters/notesMaster1.xml" Id="Rc09049ab30264c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510c3b6cc4d04" /><Relationship Type="http://schemas.openxmlformats.org/officeDocument/2006/relationships/notesMaster" Target="/ppt/notesMasters/notesMaster1.xml" Id="R99a90147a24f4b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8d81b8fa04b88" /><Relationship Type="http://schemas.openxmlformats.org/officeDocument/2006/relationships/notesMaster" Target="/ppt/notesMasters/notesMaster1.xml" Id="R76402a6c621a43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079928d8af4457" /><Relationship Type="http://schemas.openxmlformats.org/officeDocument/2006/relationships/notesMaster" Target="/ppt/notesMasters/notesMaster1.xml" Id="R12fecbe8496449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ea2493faa4f7c" /><Relationship Type="http://schemas.openxmlformats.org/officeDocument/2006/relationships/notesMaster" Target="/ppt/notesMasters/notesMaster1.xml" Id="R00b7ceed31fe4a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6febc3cbe4bd7" /><Relationship Type="http://schemas.openxmlformats.org/officeDocument/2006/relationships/notesMaster" Target="/ppt/notesMasters/notesMaster1.xml" Id="R226b8af4ff674b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a4d99e6d9841cc" /><Relationship Type="http://schemas.openxmlformats.org/officeDocument/2006/relationships/notesMaster" Target="/ppt/notesMasters/notesMaster1.xml" Id="Re894e090a7d2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D:/instan/pano360/reports/STAGE_RESULTS_2026-08-09.md</a:t>
            </a:r>
          </a:p>
          <a:p xmlns:a="http://schemas.openxmlformats.org/drawingml/2006/main">
            <a:r>
              <a:t>- 本页为交接汇报封面，无外部素材。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D:/instan/pano360/reports/STAGE_RESULTS_2026-08-09.md</a:t>
            </a:r>
          </a:p>
          <a:p xmlns:a="http://schemas.openxmlformats.org/drawingml/2006/main">
            <a:r>
              <a:t>- D:/instan/pano360/runs/grt360_20260809/ablation_erpwrap_39seq/bakeoff.json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D:/instan/pano360/scripts/score_external_results.py</a:t>
            </a:r>
          </a:p>
          <a:p xmlns:a="http://schemas.openxmlformats.org/drawingml/2006/main">
            <a:r>
              <a:t>- D:/instan/pano360/reports/STAGE_RESULTS_2026-08-09.md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D:/instan/pano360/reports/STAGE_RESULTS_2026-08-09.md</a:t>
            </a:r>
          </a:p>
          <a:p xmlns:a="http://schemas.openxmlformats.org/drawingml/2006/main">
            <a:r>
              <a:t>- D:/instan/pano360/runs/grt360_20260809/bakeoff_3seq/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D:/instan/pano360/runs/grt360_20260809/ablation_erpwrap_39seq/bakeoff.json</a:t>
            </a:r>
          </a:p>
          <a:p xmlns:a="http://schemas.openxmlformats.org/drawingml/2006/main">
            <a:r>
              <a:t>- D:/instan/pano360/reports/STAGE_RESULTS_2026-08-09.md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D:/instan/pano360/runs/grt360_20260809/ablation_erpwrap_39seq/bakeoff.json</a:t>
            </a:r>
          </a:p>
          <a:p xmlns:a="http://schemas.openxmlformats.org/drawingml/2006/main">
            <a:r>
              <a:t>- D:/instan/pano360/integrations/uetrack/erp_wrap.py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D:/instan/pano360/reports/STAGE_RESULTS_2026-08-09.md</a:t>
            </a:r>
          </a:p>
          <a:p xmlns:a="http://schemas.openxmlformats.org/drawingml/2006/main">
            <a:r>
              <a:t>- D:/instan/pano360/integrations/uetrack/README.md</a:t>
            </a:r>
          </a:p>
          <a:p xmlns:a="http://schemas.openxmlformats.org/drawingml/2006/main">
            <a:r>
              <a:t>- D:/instan/pano360/scripts/run_uetrack_paired_queue.sh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D:/instan/pano360/reports/STAGE_RESULTS_2026-08-09.md</a:t>
            </a:r>
          </a:p>
          <a:p xmlns:a="http://schemas.openxmlformats.org/drawingml/2006/main">
            <a:r>
              <a:t>- D:/instan/deliverables/GRT360_2026-08-09/docker/grt360-uetrack_2026-08-09_linux-amd64.tar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D:/instan/pano360/reports/STAGE_RESULTS_2026-08-09.md</a:t>
            </a:r>
          </a:p>
          <a:p xmlns:a="http://schemas.openxmlformats.org/drawingml/2006/main">
            <a:r>
              <a:t>- 服务器后台队列日志：/data/projects/instan/runs/grt360_20260809/uetrack_logs/fullqueue_gpu0.log 和 fullqueue_gpu1.log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06fdf1a28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e89d450b9041f6" /><Relationship Type="http://schemas.openxmlformats.org/officeDocument/2006/relationships/slideLayout" Target="/ppt/slideLayouts/slideLayout1.xml" Id="R0d81f62c5c3048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1f62c5c3048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3462e97934a29" /><Relationship Type="http://schemas.openxmlformats.org/officeDocument/2006/relationships/notesSlide" Target="/ppt/notesSlides/notesSlide1.xml" Id="Rb657cad85b0f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4bac96e644418" /><Relationship Type="http://schemas.openxmlformats.org/officeDocument/2006/relationships/notesSlide" Target="/ppt/notesSlides/notesSlide2.xml" Id="Rda89c320c6e1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62698b59410b" /><Relationship Type="http://schemas.openxmlformats.org/officeDocument/2006/relationships/notesSlide" Target="/ppt/notesSlides/notesSlide3.xml" Id="Raf48d0a46d83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4b50abc4b48d0" /><Relationship Type="http://schemas.openxmlformats.org/officeDocument/2006/relationships/chart" Target="/ppt/slides/charts/chart1.xml" Id="R0fa546b07bb349d5" /><Relationship Type="http://schemas.openxmlformats.org/officeDocument/2006/relationships/notesSlide" Target="/ppt/notesSlides/notesSlide4.xml" Id="R896ed309fec044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4009fa3144a0f" /><Relationship Type="http://schemas.openxmlformats.org/officeDocument/2006/relationships/chart" Target="/ppt/slides/charts/chart2.xml" Id="R3bc70531eeb24ae7" /><Relationship Type="http://schemas.openxmlformats.org/officeDocument/2006/relationships/notesSlide" Target="/ppt/notesSlides/notesSlide5.xml" Id="Ra79a0aad49984d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e151055b140f4" /><Relationship Type="http://schemas.openxmlformats.org/officeDocument/2006/relationships/notesSlide" Target="/ppt/notesSlides/notesSlide6.xml" Id="R53e9da375ebf41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5bd8cb5e34a84" /><Relationship Type="http://schemas.openxmlformats.org/officeDocument/2006/relationships/notesSlide" Target="/ppt/notesSlides/notesSlide7.xml" Id="R99954a5fbf1c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fb0d029e142d4" /><Relationship Type="http://schemas.openxmlformats.org/officeDocument/2006/relationships/notesSlide" Target="/ppt/notesSlides/notesSlide8.xml" Id="R1817ed4e443f49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3fbec0f34494f" /><Relationship Type="http://schemas.openxmlformats.org/officeDocument/2006/relationships/notesSlide" Target="/ppt/notesSlides/notesSlide9.xml" Id="R71827f00f32e4f7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UETrack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AUC</c:v>
              </c:pt>
              <c:pt idx="1">
                <c:v>SR@0.5</c:v>
              </c:pt>
            </c:strLit>
          </c:cat>
          <c:val>
            <c:numLit>
              <c:formatCode>0.0</c:formatCode>
              <c:ptCount val="2"/>
              <c:pt idx="0">
                <c:v>0.5247</c:v>
              </c:pt>
              <c:pt idx="1">
                <c:v>0.5953</c:v>
              </c:pt>
            </c:numLit>
          </c:val>
        </c:ser>
        <c:ser>
          <c:idx val="1"/>
          <c:order val="1"/>
          <c:tx>
            <c:v>LightFC ONNX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2"/>
              <c:pt idx="0">
                <c:v>AUC</c:v>
              </c:pt>
              <c:pt idx="1">
                <c:v>SR@0.5</c:v>
              </c:pt>
            </c:strLit>
          </c:cat>
          <c:val>
            <c:numLit>
              <c:formatCode>0.0</c:formatCode>
              <c:ptCount val="2"/>
              <c:pt idx="0">
                <c:v>0.3364</c:v>
              </c:pt>
              <c:pt idx="1">
                <c:v>0.3687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0D1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B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ERP wrap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AUC</c:v>
              </c:pt>
              <c:pt idx="1">
                <c:v>SR@0.5</c:v>
              </c:pt>
            </c:strLit>
          </c:cat>
          <c:val>
            <c:numLit>
              <c:formatCode>0.0</c:formatCode>
              <c:ptCount val="2"/>
              <c:pt idx="0">
                <c:v>0.4988</c:v>
              </c:pt>
              <c:pt idx="1">
                <c:v>0.5578</c:v>
              </c:pt>
            </c:numLit>
          </c:val>
        </c:ser>
        <c:ser>
          <c:idx val="1"/>
          <c:order val="1"/>
          <c:tx>
            <c:v>Base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2"/>
              <c:pt idx="0">
                <c:v>AUC</c:v>
              </c:pt>
              <c:pt idx="1">
                <c:v>SR@0.5</c:v>
              </c:pt>
            </c:strLit>
          </c:cat>
          <c:val>
            <c:numLit>
              <c:formatCode>0.0</c:formatCode>
              <c:ptCount val="2"/>
              <c:pt idx="0">
                <c:v>0.406</c:v>
              </c:pt>
              <c:pt idx="1">
                <c:v>0.4397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0D1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B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6B52-1EFA-4156-A7B9-07C9AB08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14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FF9BF-D6D0-4145-876A-3754AE0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19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GRT-360 · RESEARCH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F739F-0DCE-4B3F-9966-E06E2482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D10"/>
                </a:solidFill>
              </a:defRPr>
            </a:pPr>
            <a:r>
              <a:rPr sz="4050" b="1">
                <a:solidFill>
                  <a:srgbClr val="0B0D10"/>
                </a:solidFill>
              </a:rPr>
              <a:t>服务器接管与阶段成果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E557F-F964-4E3D-B584-CC69ACFE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B6470"/>
                </a:solidFill>
              </a:defRPr>
            </a:pPr>
            <a:r>
              <a:rPr sz="1800">
                <a:solidFill>
                  <a:srgbClr val="5B6470"/>
                </a:solidFill>
              </a:rPr>
              <a:t>从可复现实验协议，到可断网运行的 UETrack 交付物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7BF07-6292-4B7C-92A5-F57CA72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更新时间 2026-08-09 · 阶段结果持续回传中</a:t>
            </a:r>
          </a:p>
        </p:txBody>
      </p:sp>
    </p:spTree>
    <p:extLst>
      <p:ext uri="{BB962C8B-B14F-4D97-AF65-F5344CB8AC3E}">
        <p14:creationId xmlns:p14="http://schemas.microsoft.com/office/powerpoint/2010/main" val="586629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BD2C4-A006-4839-8DBA-689B9F3F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16453-96C2-47C8-BFB4-CA576C23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先回答：当前能交付什么？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901F-6952-4B21-B294-6AE7D179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14055-48E5-4DE3-9AD1-79654CE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主干模型已经选定，工程闭环已经打通；最后的 120 条全量分数仍由服务器队列继续产生。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0254-6A06-4176-B6C3-B3B43A9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0.4988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0DB62-0B31-4E87-9601-44B0F129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39 条序列 ERP-wrap 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44220-BD41-413C-81C8-B1EC3E6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0.5578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DA21D-359A-4A02-B242-BF48B6D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0"/>
                </a:solidFill>
              </a:defRPr>
            </a:pPr>
            <a:r>
              <a:rPr sz="1275">
                <a:solidFill>
                  <a:srgbClr val="5B6470"/>
                </a:solidFill>
              </a:rPr>
              <a:t>39 条序列 ERP-wrap SR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5C2F1-68E4-4D6D-AA48-A9A10AC3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FAB5A-8310-4A76-BC8C-0D124304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64"/>
                </a:solidFill>
              </a:defRPr>
            </a:pPr>
            <a:r>
              <a:rPr sz="1650" b="1">
                <a:solidFill>
                  <a:srgbClr val="147D64"/>
                </a:solidFill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ED290-53C8-49DF-88F1-59DEE462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0B0D10"/>
                </a:solidFill>
              </a:defRPr>
            </a:pPr>
            <a:r>
              <a:rPr sz="1425">
                <a:solidFill>
                  <a:srgbClr val="0B0D10"/>
                </a:solidFill>
              </a:rPr>
              <a:t>严格 scorer、UETrack 选型、ERP 环形采样增强、GPU 冒烟、断网镜像、GitHub 草稿 PR。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DE86B-72DE-4DA6-96BC-0C07B3A4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正在运行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211C0-E678-482F-8996-EE9342D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0B0D10"/>
                </a:solidFill>
              </a:defRPr>
            </a:pPr>
            <a:r>
              <a:rPr sz="1425">
                <a:solidFill>
                  <a:srgbClr val="0B0D10"/>
                </a:solidFill>
              </a:rPr>
              <a:t>数据同步与 0030 起的成对评测队列；已有结果自动跳过，GPU 空闲后续跑。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3281E-77D4-4A6B-B3D6-76F063FE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747"/>
                </a:solidFill>
              </a:defRPr>
            </a:pPr>
            <a:r>
              <a:rPr sz="1650" b="1">
                <a:solidFill>
                  <a:srgbClr val="C24747"/>
                </a:solidFill>
              </a:rPr>
              <a:t>明确边界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B13CB-C8FB-44E2-8757-BFA0827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0B0D10"/>
                </a:solidFill>
              </a:defRPr>
            </a:pPr>
            <a:r>
              <a:rPr sz="1425">
                <a:solidFill>
                  <a:srgbClr val="0B0D10"/>
                </a:solidFill>
              </a:rPr>
              <a:t>LoRAT / ODTrack 没有可验证的固定 checkpoint，因此没有编造分数；当前结论基于 LightFC 与 UETrack。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77F64-3683-46BE-B272-47916276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61B44-A9E1-449F-821B-D1E0B107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E2014-771C-4E00-87D9-D8B8D927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3585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7B6A9-0052-464F-A872-2A6D019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评测契约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576DE-CAC0-4212-9E6F-D9DBD1F9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先固定协议，结果才可比较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299C7-FBB7-44EE-AA62-060C3D9F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所有外部结果进入同一个 OPE scorer；初始化帧只用于对齐，不参与精度汇总。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8572500"/>
              </a:tblGrid>
              <a:tr h="5715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统一约定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框格式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x, y, w, h；预测与 GT 逐帧严格对齐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精度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ordinary IoU + ERP dual IoU（−W / 0 / +W）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汇总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21 点 AUC、SR@0.5；按序列等权 macro average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计时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读取 tracker 原生 timing；不与精度混合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B0D10"/>
                          </a:solidFill>
                        </a:rPr>
                        <a:t>首帧、行数、有限值、宽度归一化全部强校验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42ADA-64C0-4B9C-900A-B3CE6D38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这一步把“跑出来了”变成“能复核、能比较、能追责”。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47E02-A334-463F-9DE1-8DEA1481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32046-2D60-4DB4-9AC7-82E51015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0113F-82C3-4337-954C-AF7D2A0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3657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7B5E4-3545-48E0-8CDE-3D6B6730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统一 BAKE-OFF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1F4FB-F08E-4249-938E-7DC6EA2C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3 条序列筛选已足够改变主线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EB5F0-9E2F-4FE9-9D7A-1841A4B8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UETrack 在同一协议下同时赢得精度和速度，因此成为后续几何增强的实验底座。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42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a546b07bb349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FCFCC-80B0-4DC9-8BA6-1087675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647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13CEB-1FDD-4FDE-BEB0-7B910F39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选择 UETrack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52CBC-0D7A-45F4-AE7D-375C05A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AUC +0.1883</a:t>
            </a:r>
          </a:p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SR +0.2266</a:t>
            </a:r>
          </a:p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FPS 61.40 vs 6.78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235E-4CE7-4DA4-AF30-9AC3AEA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0"/>
                </a:solidFill>
              </a:defRPr>
            </a:pPr>
            <a:r>
              <a:rPr sz="1350">
                <a:solidFill>
                  <a:srgbClr val="5B6470"/>
                </a:solidFill>
              </a:rPr>
              <a:t>这是选型，不是最终 120 条排行榜。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47902-68CF-41C6-ACFE-D849773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195BB-BA70-46A3-AF1E-F5AD0BF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25B99-3695-4AB4-8819-325FA8AD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4299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5035C-A4B7-4CD2-B6CA-7B2BF2F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主结果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2CA5B-5B6D-4FB8-A68E-4E11C38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ERP 环形采样在 39 条序列上形成稳定增益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FC7A-D8CA-49C8-8CD9-25F6325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水平边界改为循环采样，垂直方向仍保持常规 padding；跨 seam 的框宽度被保留。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42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c70531eeb24a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0B49A-B203-4473-8011-CE4B0581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647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487A0-6D78-4D0E-B5AB-1A519AF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+0.0928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E5515-D197-4423-A21E-390A360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0"/>
                </a:solidFill>
              </a:defRPr>
            </a:pPr>
            <a:r>
              <a:rPr sz="1350">
                <a:solidFill>
                  <a:srgbClr val="5B6470"/>
                </a:solidFill>
              </a:rPr>
              <a:t>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375EA-D3D7-4694-9325-DC0C4BCF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+0.1181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B8B17-F2B7-4C34-A56C-18402E72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0"/>
                </a:solidFill>
              </a:defRPr>
            </a:pPr>
            <a:r>
              <a:rPr sz="1350">
                <a:solidFill>
                  <a:srgbClr val="5B6470"/>
                </a:solidFill>
              </a:rPr>
              <a:t>SR@0.5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1B435-2D8B-46AB-A63A-715330C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</a:defRPr>
            </a:pPr>
            <a:r>
              <a:rPr sz="1350" b="1">
                <a:solidFill>
                  <a:srgbClr val="0B0D10"/>
                </a:solidFill>
              </a:rPr>
              <a:t>39 条序列 macro average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B1C45-8371-4007-A97F-64EF969A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2450-A65B-4516-9955-C499732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26E75-499B-4020-87CD-6597643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0509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FE92C-7265-4FB4-A251-FD47DD7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逐序列证据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3F651-1734-4894-B084-091C59CC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增益集中在 seam 场景，但并非每条序列都变好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68449-733D-4138-983C-4C97EEAF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保留回归样本，避免把 macro average 讲成普遍提升。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1428750"/>
                <a:gridCol w="1428750"/>
                <a:gridCol w="1428750"/>
                <a:gridCol w="5715000"/>
              </a:tblGrid>
              <a:tr h="459921">
                <a:tc>
                  <a:txBody>
                    <a:bodyPr/>
                    <a:lstStyle/>
                    <a:p>
                      <a:r>
                        <a:t>序列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 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ERP 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解读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0.5470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0.8806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+0.3336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明显 seam 增益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0003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0.2551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0.6413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+0.3862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明显 seam 增益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0014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0.2616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0.7284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+0.4668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大幅恢复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0018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0.4995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0.8145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+0.3150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大幅恢复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0020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0.1245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0.3078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+0.1833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改善</a:t>
                      </a:r>
                    </a:p>
                  </a:txBody>
                  <a:tcPr marL="91440" marR="91440" marT="45720" marB="45720"/>
                </a:tc>
              </a:tr>
              <a:tr h="45992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0029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0.2736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0.2558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−0.0178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保留回归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7F086-9487-4192-A046-E024E3C4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下一步不是隐藏回归，而是用全量结果定位何时启用 seam-aware 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6E733-4A53-449D-9CB6-B7B36ED0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F6333-8BF1-4D05-BF25-4DE79A6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70384-57DD-4650-A1C2-AE2086FC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675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0D684-2A3C-497C-ADAB-A61C0D5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工程闭环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94D2F-2E53-4664-B40A-D7D3DD2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研究结果已经落成可复现工程链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D07B1-59AE-4E36-9B9C-0ED12781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0"/>
                </a:solidFill>
              </a:defRPr>
            </a:pPr>
            <a:r>
              <a:rPr sz="1500">
                <a:solidFill>
                  <a:srgbClr val="5B6470"/>
                </a:solidFill>
              </a:rPr>
              <a:t>每个环节都有可检查的锚点，服务器和本地交付不依赖口头说明。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0E7E9-1AA5-418D-963E-FD61955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40D6A-6AC6-4BCE-8595-260E490B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F5F0D-6417-4F98-9FF9-38CBD4FB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76DF5-E699-4282-9DDC-16990C9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809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48793-B584-4E11-AD1C-AFB26748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18822-BCEF-4D70-A075-DA5588F3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固定锚点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C1285-6E13-452F-B291-D7FB76FB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upstream commit</a:t>
            </a:r>
          </a:p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checkpoint SHA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15B86-46F6-4807-A7BA-A503823E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1809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14E50-2D62-4E74-9618-1655AF0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DFCC3-8BE0-43A9-B468-AB6737F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统一 scorer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CE6A9-51BE-4BDA-9AF5-F23123A7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147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严格行数</a:t>
            </a:r>
          </a:p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ordinary + dual IoU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2CA84-6CED-43FB-8CA0-816F6193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1809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F5E9-9F37-4D0D-BB78-B8132D4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FCDE6-EB66-4E03-91ED-53C90A8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服务器评测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7130D-9589-4A7A-8A0E-E895D24E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双 3090</a:t>
            </a:r>
          </a:p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可恢复队列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0EF96-77CE-43F1-AD3B-071C43A4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14600"/>
            <a:ext cx="1809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CB01C-74A5-4443-B4CE-43E87747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3C1E9-CFA1-41E8-989D-BC83EF7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71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离线镜像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924D1-C394-41B2-BAD6-2F4A7E2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147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CUDA 12.1</a:t>
            </a:r>
          </a:p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file protocol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463CA-AA53-42A4-8A72-E8F28117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可复现 ≠ 只有代码：还要有权重、数据、协议、运行环境和校验值。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906D3-11DB-4B1E-BA2F-8E972DC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4B700-DCEB-41FD-9F77-7F8873B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DF92D-1F44-45B5-BE55-D23D196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3463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3EB91-F972-471B-9141-E01284D2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交付地图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0CFA4-38BB-4D02-9192-8FBAB5D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交付物已分成三处，路径清晰可查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07DCB-05C3-435A-9479-E77EB7F0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E287A-F0E1-4C2D-ADA2-E7620A9E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本地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C8C51-B117-4704-8FFF-26A4A138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代码与报告</a:t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D:/instan/pano360/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阶段原始结果</a:t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D:/instan/pano360/runs/grt360_20260809/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离线镜像 tar</a:t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D:/instan/deliverables/GRT360_2026-08-09/docker/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C70F9-141E-4963-A869-FC6211E0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09D77-E86E-4D44-8B92-9864542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服务器 / 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D1D33-3CE2-422A-A760-B079B9FC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05050"/>
            <a:ext cx="4381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服务器代码</a:t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/data/projects/instan_grt360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服务器原始结果</a:t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/data/projects/instan/runs/grt360_20260809/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GitHub 草稿 PR</a:t>
            </a:r>
          </a:p>
          <a:p xmlns:a="http://schemas.openxmlformats.org/drawingml/2006/main">
            <a:pPr algn="l">
              <a:defRPr sz="1275">
                <a:solidFill>
                  <a:srgbClr val="0B0D10"/>
                </a:solidFill>
              </a:defRPr>
            </a:pPr>
            <a:r>
              <a:rPr sz="1275">
                <a:solidFill>
                  <a:srgbClr val="0B0D10"/>
                </a:solidFill>
              </a:rPr>
              <a:t>https://github.com/A3435331841/instan/pull/1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A6C76-5112-4031-B464-EF07CB6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镜像包约 5.99 GB；仓库不包含数据、权重和 token。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6130D-9273-4EEF-A0F6-59A72333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F39CB-A66A-47F2-BF19-558366E9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GRT-360 · 2026-08-09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90ECF-7E08-4E4B-B1AD-7F38E48F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0"/>
                </a:solidFill>
              </a:defRPr>
            </a:pPr>
            <a:r>
              <a:rPr sz="900">
                <a:solidFill>
                  <a:srgbClr val="5B64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1337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00EE4-72AA-4555-92EC-2A1D131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14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2B3C4-1CD4-41B6-80A1-8CD05B1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7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现在的正确动作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CD40A-3203-46DC-8DDC-3761983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让全量队列跑完，再冻结最终 120 条结论。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1FEA-EB26-4CAF-8FCC-0489F06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470"/>
                </a:solidFill>
              </a:defRPr>
            </a:pPr>
            <a:r>
              <a:rPr sz="1725">
                <a:solidFill>
                  <a:srgbClr val="5B6470"/>
                </a:solidFill>
              </a:rPr>
              <a:t>当前已具备：可比较的协议、已验证的主干、可解释的几何增强、断网镜像和服务器后台队列。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ACD9D-FA83-4D6D-A929-15E3C3D2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82DC8-6CB6-47DF-B833-DB4DE90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阶段状态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7800-EAF5-44DD-8CD3-7156C85D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B0D10"/>
                </a:solidFill>
              </a:defRPr>
            </a:pPr>
            <a:r>
              <a:rPr sz="1500">
                <a:solidFill>
                  <a:srgbClr val="0B0D10"/>
                </a:solidFill>
              </a:rPr>
              <a:t>39 条已汇总 · 0030–0039 已成对完成 · 0049/0050 等待数据到齐 · 120 条全量尚未宣称完成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C2619-7926-4168-8FF5-24D0D856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0"/>
                </a:solidFill>
              </a:defRPr>
            </a:pPr>
            <a:r>
              <a:rPr sz="1200">
                <a:solidFill>
                  <a:srgbClr val="5B6470"/>
                </a:solidFill>
              </a:rPr>
              <a:t>下一次更新：全量 score + 最终报告 + PR 更新。</a:t>
            </a:r>
          </a:p>
        </p:txBody>
      </p:sp>
    </p:spTree>
    <p:extLst>
      <p:ext uri="{BB962C8B-B14F-4D97-AF65-F5344CB8AC3E}">
        <p14:creationId xmlns:p14="http://schemas.microsoft.com/office/powerpoint/2010/main" val="1928498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2026-08-09T07:44:19.9650000Z</dcterms:created>
  <dcterms:modified xsi:type="dcterms:W3CDTF">2026-08-09T07:44:19.9650000Z</dcterms:modified>
</coreProperties>
</file>